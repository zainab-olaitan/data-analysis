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858F8-0F32-4845-8EA7-AE67C1DD56D6}" v="100" dt="2026-05-12T18:50:34.081"/>
    <p1510:client id="{64F52544-C043-45AE-A287-0A9716837F27}" v="63" dt="2026-05-12T18:33:27.895"/>
    <p1510:client id="{F175C831-1DD5-4497-919C-F9F54096BAD7}" v="4750" dt="2026-05-12T18:19:43.6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748174"/>
            <a:ext cx="9144000" cy="729736"/>
          </a:xfrm>
        </p:spPr>
        <p:txBody>
          <a:bodyPr/>
          <a:lstStyle/>
          <a:p>
            <a:r>
              <a:rPr lang="en-US" sz="2800" b="1"/>
              <a:t>DATA CLEANING PROCESS IN </a:t>
            </a:r>
            <a:r>
              <a:rPr lang="en-US" sz="2800" b="1" err="1"/>
              <a:t>EXCE</a:t>
            </a:r>
            <a:r>
              <a:rPr lang="en-US" sz="2800" b="1"/>
              <a:t>L</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58526-E048-E12F-CE76-AE7A2614AB38}"/>
              </a:ext>
            </a:extLst>
          </p:cNvPr>
          <p:cNvSpPr>
            <a:spLocks noGrp="1"/>
          </p:cNvSpPr>
          <p:nvPr>
            <p:ph type="title"/>
          </p:nvPr>
        </p:nvSpPr>
        <p:spPr/>
        <p:txBody>
          <a:bodyPr>
            <a:normAutofit/>
          </a:bodyPr>
          <a:lstStyle/>
          <a:p>
            <a:pPr algn="ctr"/>
            <a:r>
              <a:rPr lang="en-US" sz="2000" b="1">
                <a:latin typeface="Times New Roman"/>
                <a:cs typeface="Times New Roman"/>
              </a:rPr>
              <a:t>INTRODUCTION</a:t>
            </a:r>
          </a:p>
        </p:txBody>
      </p:sp>
      <p:sp>
        <p:nvSpPr>
          <p:cNvPr id="3" name="Content Placeholder 2">
            <a:extLst>
              <a:ext uri="{FF2B5EF4-FFF2-40B4-BE49-F238E27FC236}">
                <a16:creationId xmlns:a16="http://schemas.microsoft.com/office/drawing/2014/main" id="{FD704391-3382-BC30-B352-DA7DE6B63187}"/>
              </a:ext>
            </a:extLst>
          </p:cNvPr>
          <p:cNvSpPr>
            <a:spLocks noGrp="1"/>
          </p:cNvSpPr>
          <p:nvPr>
            <p:ph idx="1"/>
          </p:nvPr>
        </p:nvSpPr>
        <p:spPr/>
        <p:txBody>
          <a:bodyPr vert="horz" lIns="91440" tIns="45720" rIns="91440" bIns="45720" rtlCol="0" anchor="t">
            <a:normAutofit fontScale="85000" lnSpcReduction="20000"/>
          </a:bodyPr>
          <a:lstStyle/>
          <a:p>
            <a:pPr algn="just">
              <a:lnSpc>
                <a:spcPct val="200000"/>
              </a:lnSpc>
            </a:pPr>
            <a:r>
              <a:rPr lang="en-US" sz="1600">
                <a:latin typeface="Times New Roman"/>
                <a:cs typeface="Times New Roman"/>
              </a:rPr>
              <a:t>This project focuses on the analysis and cleaning of a Restaurant Health Inspection data from New York City (NYC). The dataset contains information about restaurant inspections, including restaurant details, cuisine descriptions, inspection results, food safety grades, and violation types across different neighborhoods in the NYC. During the inspection of the dataset, several inconsistencies and discrepancies were identified, such as missing values, duplicate entries, incorrect formatting, and inconsistent records.</a:t>
            </a:r>
            <a:endParaRPr lang="en-US"/>
          </a:p>
          <a:p>
            <a:pPr algn="just">
              <a:lnSpc>
                <a:spcPct val="200000"/>
              </a:lnSpc>
            </a:pPr>
            <a:r>
              <a:rPr lang="en-US" sz="1600" err="1">
                <a:latin typeface="Times New Roman"/>
                <a:cs typeface="Times New Roman"/>
              </a:rPr>
              <a:t>Exce</a:t>
            </a:r>
            <a:r>
              <a:rPr lang="en-US" sz="1600">
                <a:latin typeface="Times New Roman"/>
                <a:cs typeface="Times New Roman"/>
              </a:rPr>
              <a:t>l data cleaning techniques were applied to improve data accuracy, consistency, and reliability of the data before analysis and visualization.</a:t>
            </a:r>
          </a:p>
          <a:p>
            <a:pPr algn="just">
              <a:lnSpc>
                <a:spcPct val="200000"/>
              </a:lnSpc>
            </a:pPr>
            <a:r>
              <a:rPr lang="en-US" sz="1600">
                <a:latin typeface="Times New Roman"/>
                <a:cs typeface="Times New Roman"/>
              </a:rPr>
              <a:t>The data cleaning process involved identifying and correcting errors, standardizing formats, handling missing data, removing duplicates, and organizing the dataset for meaningful analysis.</a:t>
            </a:r>
          </a:p>
          <a:p>
            <a:pPr algn="just">
              <a:lnSpc>
                <a:spcPct val="200000"/>
              </a:lnSpc>
            </a:pPr>
            <a:r>
              <a:rPr lang="en-US" sz="1600">
                <a:latin typeface="Times New Roman"/>
                <a:cs typeface="Times New Roman"/>
              </a:rPr>
              <a:t>The cleaned dataset can then be used to identify patterns in restaurant violations, inspection grades, and cuisine performance to help support better </a:t>
            </a:r>
            <a:r>
              <a:rPr lang="en-US" sz="1600" err="1">
                <a:latin typeface="Times New Roman"/>
                <a:cs typeface="Times New Roman"/>
              </a:rPr>
              <a:t>publi</a:t>
            </a:r>
            <a:r>
              <a:rPr lang="en-US" sz="1600">
                <a:latin typeface="Times New Roman"/>
                <a:cs typeface="Times New Roman"/>
              </a:rPr>
              <a:t>c health decisions and food safety management in New York City.</a:t>
            </a:r>
          </a:p>
        </p:txBody>
      </p:sp>
    </p:spTree>
    <p:extLst>
      <p:ext uri="{BB962C8B-B14F-4D97-AF65-F5344CB8AC3E}">
        <p14:creationId xmlns:p14="http://schemas.microsoft.com/office/powerpoint/2010/main" val="1878596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740D9-D1FE-A32F-8FC8-D74CB4C7AEE1}"/>
              </a:ext>
            </a:extLst>
          </p:cNvPr>
          <p:cNvSpPr>
            <a:spLocks noGrp="1"/>
          </p:cNvSpPr>
          <p:nvPr>
            <p:ph type="title"/>
          </p:nvPr>
        </p:nvSpPr>
        <p:spPr>
          <a:xfrm>
            <a:off x="838200" y="4720"/>
            <a:ext cx="10515600" cy="666535"/>
          </a:xfrm>
        </p:spPr>
        <p:txBody>
          <a:bodyPr>
            <a:normAutofit/>
          </a:bodyPr>
          <a:lstStyle/>
          <a:p>
            <a:pPr algn="ctr"/>
            <a:r>
              <a:rPr lang="en-US" sz="1800" b="1">
                <a:latin typeface="Times New Roman"/>
                <a:cs typeface="Times New Roman"/>
              </a:rPr>
              <a:t>DATA CLEANING PERFORMED</a:t>
            </a:r>
          </a:p>
        </p:txBody>
      </p:sp>
      <p:graphicFrame>
        <p:nvGraphicFramePr>
          <p:cNvPr id="8" name="Content Placeholder 7">
            <a:extLst>
              <a:ext uri="{FF2B5EF4-FFF2-40B4-BE49-F238E27FC236}">
                <a16:creationId xmlns:a16="http://schemas.microsoft.com/office/drawing/2014/main" id="{3971E890-BE05-1422-94DC-69ADCA595EAF}"/>
              </a:ext>
            </a:extLst>
          </p:cNvPr>
          <p:cNvGraphicFramePr>
            <a:graphicFrameLocks noGrp="1"/>
          </p:cNvGraphicFramePr>
          <p:nvPr>
            <p:ph idx="1"/>
            <p:extLst>
              <p:ext uri="{D42A27DB-BD31-4B8C-83A1-F6EECF244321}">
                <p14:modId xmlns:p14="http://schemas.microsoft.com/office/powerpoint/2010/main" val="3932617306"/>
              </p:ext>
            </p:extLst>
          </p:nvPr>
        </p:nvGraphicFramePr>
        <p:xfrm>
          <a:off x="834081" y="803189"/>
          <a:ext cx="10972800" cy="5527361"/>
        </p:xfrm>
        <a:graphic>
          <a:graphicData uri="http://schemas.openxmlformats.org/drawingml/2006/table">
            <a:tbl>
              <a:tblPr firstRow="1" bandRow="1">
                <a:tableStyleId>{073A0DAA-6AF3-43AB-8588-CEC1D06C72B9}</a:tableStyleId>
              </a:tblPr>
              <a:tblGrid>
                <a:gridCol w="2743200">
                  <a:extLst>
                    <a:ext uri="{9D8B030D-6E8A-4147-A177-3AD203B41FA5}">
                      <a16:colId xmlns:a16="http://schemas.microsoft.com/office/drawing/2014/main" val="2906038339"/>
                    </a:ext>
                  </a:extLst>
                </a:gridCol>
                <a:gridCol w="2743200">
                  <a:extLst>
                    <a:ext uri="{9D8B030D-6E8A-4147-A177-3AD203B41FA5}">
                      <a16:colId xmlns:a16="http://schemas.microsoft.com/office/drawing/2014/main" val="147453127"/>
                    </a:ext>
                  </a:extLst>
                </a:gridCol>
                <a:gridCol w="2743200">
                  <a:extLst>
                    <a:ext uri="{9D8B030D-6E8A-4147-A177-3AD203B41FA5}">
                      <a16:colId xmlns:a16="http://schemas.microsoft.com/office/drawing/2014/main" val="658995805"/>
                    </a:ext>
                  </a:extLst>
                </a:gridCol>
                <a:gridCol w="2743200">
                  <a:extLst>
                    <a:ext uri="{9D8B030D-6E8A-4147-A177-3AD203B41FA5}">
                      <a16:colId xmlns:a16="http://schemas.microsoft.com/office/drawing/2014/main" val="1567798170"/>
                    </a:ext>
                  </a:extLst>
                </a:gridCol>
              </a:tblGrid>
              <a:tr h="745660">
                <a:tc>
                  <a:txBody>
                    <a:bodyPr/>
                    <a:lstStyle/>
                    <a:p>
                      <a:pPr algn="ctr"/>
                      <a:r>
                        <a:rPr lang="en-US">
                          <a:latin typeface="Times New Roman"/>
                          <a:cs typeface="Times New Roman"/>
                        </a:rPr>
                        <a:t>COLUMNS</a:t>
                      </a:r>
                    </a:p>
                  </a:txBody>
                  <a:tcPr/>
                </a:tc>
                <a:tc>
                  <a:txBody>
                    <a:bodyPr/>
                    <a:lstStyle/>
                    <a:p>
                      <a:r>
                        <a:rPr lang="en-US"/>
                        <a:t>ISSUE(S) FOUND</a:t>
                      </a:r>
                    </a:p>
                  </a:txBody>
                  <a:tcPr/>
                </a:tc>
                <a:tc>
                  <a:txBody>
                    <a:bodyPr/>
                    <a:lstStyle/>
                    <a:p>
                      <a:r>
                        <a:rPr lang="en-US"/>
                        <a:t>CLEANING METHOD</a:t>
                      </a:r>
                    </a:p>
                  </a:txBody>
                  <a:tcPr/>
                </a:tc>
                <a:tc>
                  <a:txBody>
                    <a:bodyPr/>
                    <a:lstStyle/>
                    <a:p>
                      <a:r>
                        <a:rPr lang="en-US"/>
                        <a:t>RESULTS</a:t>
                      </a:r>
                    </a:p>
                  </a:txBody>
                  <a:tcPr/>
                </a:tc>
                <a:extLst>
                  <a:ext uri="{0D108BD9-81ED-4DB2-BD59-A6C34878D82A}">
                    <a16:rowId xmlns:a16="http://schemas.microsoft.com/office/drawing/2014/main" val="81845192"/>
                  </a:ext>
                </a:extLst>
              </a:tr>
              <a:tr h="745660">
                <a:tc>
                  <a:txBody>
                    <a:bodyPr/>
                    <a:lstStyle/>
                    <a:p>
                      <a:r>
                        <a:rPr lang="en-US" sz="1600">
                          <a:latin typeface="Times New Roman"/>
                          <a:cs typeface="Times New Roman"/>
                        </a:rPr>
                        <a:t>CAMIS</a:t>
                      </a:r>
                    </a:p>
                  </a:txBody>
                  <a:tcPr/>
                </a:tc>
                <a:tc>
                  <a:txBody>
                    <a:bodyPr/>
                    <a:lstStyle/>
                    <a:p>
                      <a:r>
                        <a:rPr lang="en-US"/>
                        <a:t>Duplicate records were detected</a:t>
                      </a:r>
                    </a:p>
                  </a:txBody>
                  <a:tcPr/>
                </a:tc>
                <a:tc>
                  <a:txBody>
                    <a:bodyPr/>
                    <a:lstStyle/>
                    <a:p>
                      <a:r>
                        <a:rPr lang="en-US"/>
                        <a:t>Used "remove duplicates in excel"</a:t>
                      </a:r>
                    </a:p>
                  </a:txBody>
                  <a:tcPr/>
                </a:tc>
                <a:tc>
                  <a:txBody>
                    <a:bodyPr/>
                    <a:lstStyle/>
                    <a:p>
                      <a:r>
                        <a:rPr lang="en-US"/>
                        <a:t>Duplicate entries were removed</a:t>
                      </a:r>
                    </a:p>
                  </a:txBody>
                  <a:tcPr/>
                </a:tc>
                <a:extLst>
                  <a:ext uri="{0D108BD9-81ED-4DB2-BD59-A6C34878D82A}">
                    <a16:rowId xmlns:a16="http://schemas.microsoft.com/office/drawing/2014/main" val="172803887"/>
                  </a:ext>
                </a:extLst>
              </a:tr>
              <a:tr h="1538668">
                <a:tc>
                  <a:txBody>
                    <a:bodyPr/>
                    <a:lstStyle/>
                    <a:p>
                      <a:r>
                        <a:rPr lang="en-US">
                          <a:latin typeface="Times New Roman"/>
                          <a:cs typeface="Times New Roman"/>
                        </a:rPr>
                        <a:t>DBA</a:t>
                      </a:r>
                    </a:p>
                  </a:txBody>
                  <a:tcPr/>
                </a:tc>
                <a:tc>
                  <a:txBody>
                    <a:bodyPr/>
                    <a:lstStyle/>
                    <a:p>
                      <a:r>
                        <a:rPr lang="en-US"/>
                        <a:t>Extra spaces, mixed </a:t>
                      </a:r>
                      <a:r>
                        <a:rPr lang="en-US" err="1"/>
                        <a:t>upper and lower case</a:t>
                      </a:r>
                      <a:r>
                        <a:rPr lang="en-US"/>
                        <a:t> entries, and Inconsistent values were detected.</a:t>
                      </a:r>
                    </a:p>
                  </a:txBody>
                  <a:tcPr/>
                </a:tc>
                <a:tc>
                  <a:txBody>
                    <a:bodyPr/>
                    <a:lstStyle/>
                    <a:p>
                      <a:r>
                        <a:rPr lang="en-US"/>
                        <a:t>TRIM function,</a:t>
                      </a:r>
                    </a:p>
                    <a:p>
                      <a:pPr lvl="0">
                        <a:buNone/>
                      </a:pPr>
                      <a:r>
                        <a:rPr lang="en-US"/>
                        <a:t>UPPER function to standardize text format,</a:t>
                      </a:r>
                    </a:p>
                    <a:p>
                      <a:pPr lvl="0">
                        <a:buNone/>
                      </a:pPr>
                      <a:r>
                        <a:rPr lang="en-US"/>
                        <a:t>Filtered and deleted inconsistent records.</a:t>
                      </a:r>
                    </a:p>
                  </a:txBody>
                  <a:tcPr/>
                </a:tc>
                <a:tc>
                  <a:txBody>
                    <a:bodyPr/>
                    <a:lstStyle/>
                    <a:p>
                      <a:r>
                        <a:rPr lang="en-US"/>
                        <a:t>Clean text formatting,</a:t>
                      </a:r>
                    </a:p>
                    <a:p>
                      <a:pPr lvl="0">
                        <a:buNone/>
                      </a:pPr>
                      <a:r>
                        <a:rPr lang="en-US"/>
                        <a:t>Consistent and properly formatted,</a:t>
                      </a:r>
                    </a:p>
                    <a:p>
                      <a:pPr lvl="0">
                        <a:buNone/>
                      </a:pPr>
                      <a:r>
                        <a:rPr lang="en-US"/>
                        <a:t>Inconsistent values were removed.</a:t>
                      </a:r>
                    </a:p>
                  </a:txBody>
                  <a:tcPr/>
                </a:tc>
                <a:extLst>
                  <a:ext uri="{0D108BD9-81ED-4DB2-BD59-A6C34878D82A}">
                    <a16:rowId xmlns:a16="http://schemas.microsoft.com/office/drawing/2014/main" val="3984023554"/>
                  </a:ext>
                </a:extLst>
              </a:tr>
              <a:tr h="958705">
                <a:tc>
                  <a:txBody>
                    <a:bodyPr/>
                    <a:lstStyle/>
                    <a:p>
                      <a:r>
                        <a:rPr lang="en-US">
                          <a:latin typeface="Times New Roman"/>
                          <a:cs typeface="Times New Roman"/>
                        </a:rPr>
                        <a:t>BORO (LOCATION)</a:t>
                      </a:r>
                    </a:p>
                  </a:txBody>
                  <a:tcPr/>
                </a:tc>
                <a:tc>
                  <a:txBody>
                    <a:bodyPr/>
                    <a:lstStyle/>
                    <a:p>
                      <a:r>
                        <a:rPr lang="en-US">
                          <a:latin typeface="Times New Roman"/>
                          <a:ea typeface="Calibri"/>
                          <a:cs typeface="Times New Roman"/>
                        </a:rPr>
                        <a:t>Irregular data patterns</a:t>
                      </a:r>
                    </a:p>
                  </a:txBody>
                  <a:tcPr/>
                </a:tc>
                <a:tc>
                  <a:txBody>
                    <a:bodyPr/>
                    <a:lstStyle/>
                    <a:p>
                      <a:r>
                        <a:rPr lang="en-US"/>
                        <a:t>Reviewed records using filtering, formatting and deleting tools</a:t>
                      </a:r>
                    </a:p>
                  </a:txBody>
                  <a:tcPr/>
                </a:tc>
                <a:tc>
                  <a:txBody>
                    <a:bodyPr/>
                    <a:lstStyle/>
                    <a:p>
                      <a:r>
                        <a:rPr lang="en-US"/>
                        <a:t>Improved data </a:t>
                      </a:r>
                      <a:r>
                        <a:rPr lang="en-US" err="1"/>
                        <a:t>consisten</a:t>
                      </a:r>
                      <a:r>
                        <a:rPr lang="en-US"/>
                        <a:t>cy</a:t>
                      </a:r>
                    </a:p>
                  </a:txBody>
                  <a:tcPr/>
                </a:tc>
                <a:extLst>
                  <a:ext uri="{0D108BD9-81ED-4DB2-BD59-A6C34878D82A}">
                    <a16:rowId xmlns:a16="http://schemas.microsoft.com/office/drawing/2014/main" val="3135256234"/>
                  </a:ext>
                </a:extLst>
              </a:tr>
              <a:tr h="1538668">
                <a:tc>
                  <a:txBody>
                    <a:bodyPr/>
                    <a:lstStyle/>
                    <a:p>
                      <a:pPr lvl="0">
                        <a:buNone/>
                      </a:pPr>
                      <a:r>
                        <a:rPr lang="en-US">
                          <a:latin typeface="Times New Roman"/>
                          <a:cs typeface="Times New Roman"/>
                        </a:rPr>
                        <a:t>BUILDING</a:t>
                      </a:r>
                    </a:p>
                  </a:txBody>
                  <a:tcPr/>
                </a:tc>
                <a:tc>
                  <a:txBody>
                    <a:bodyPr/>
                    <a:lstStyle/>
                    <a:p>
                      <a:pPr lvl="0">
                        <a:buNone/>
                      </a:pPr>
                      <a:r>
                        <a:rPr lang="en-US"/>
                        <a:t>Blank cells</a:t>
                      </a:r>
                    </a:p>
                    <a:p>
                      <a:pPr lvl="0">
                        <a:buNone/>
                      </a:pPr>
                      <a:r>
                        <a:rPr lang="en-US"/>
                        <a:t>Irregular data patterns</a:t>
                      </a:r>
                    </a:p>
                  </a:txBody>
                  <a:tcPr/>
                </a:tc>
                <a:tc>
                  <a:txBody>
                    <a:bodyPr/>
                    <a:lstStyle/>
                    <a:p>
                      <a:pPr lvl="0">
                        <a:buNone/>
                      </a:pPr>
                      <a:r>
                        <a:rPr lang="en-US"/>
                        <a:t>Filled missing values,</a:t>
                      </a:r>
                    </a:p>
                    <a:p>
                      <a:pPr lvl="0">
                        <a:buNone/>
                      </a:pPr>
                      <a:r>
                        <a:rPr lang="en-US" sz="1800" b="0" i="0" u="none" strike="noStrike" noProof="0">
                          <a:solidFill>
                            <a:srgbClr val="000000"/>
                          </a:solidFill>
                          <a:latin typeface="Aptos"/>
                        </a:rPr>
                        <a:t>Reviewed records using filtering, formatting and deleting tools</a:t>
                      </a:r>
                      <a:endParaRPr lang="en-US"/>
                    </a:p>
                    <a:p>
                      <a:pPr lvl="0">
                        <a:buNone/>
                      </a:pPr>
                      <a:endParaRPr lang="en-US"/>
                    </a:p>
                  </a:txBody>
                  <a:tcPr/>
                </a:tc>
                <a:tc>
                  <a:txBody>
                    <a:bodyPr/>
                    <a:lstStyle/>
                    <a:p>
                      <a:pPr lvl="0">
                        <a:buNone/>
                      </a:pPr>
                      <a:r>
                        <a:rPr lang="en-US"/>
                        <a:t>Complete records</a:t>
                      </a:r>
                    </a:p>
                    <a:p>
                      <a:pPr lvl="0">
                        <a:buNone/>
                      </a:pPr>
                      <a:r>
                        <a:rPr lang="en-US"/>
                        <a:t>Improved data accuracy</a:t>
                      </a:r>
                    </a:p>
                  </a:txBody>
                  <a:tcPr/>
                </a:tc>
                <a:extLst>
                  <a:ext uri="{0D108BD9-81ED-4DB2-BD59-A6C34878D82A}">
                    <a16:rowId xmlns:a16="http://schemas.microsoft.com/office/drawing/2014/main" val="560080084"/>
                  </a:ext>
                </a:extLst>
              </a:tr>
            </a:tbl>
          </a:graphicData>
        </a:graphic>
      </p:graphicFrame>
    </p:spTree>
    <p:extLst>
      <p:ext uri="{BB962C8B-B14F-4D97-AF65-F5344CB8AC3E}">
        <p14:creationId xmlns:p14="http://schemas.microsoft.com/office/powerpoint/2010/main" val="2606405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EBB1655-6465-D3B0-FAE9-30BC2D9D29D1}"/>
              </a:ext>
            </a:extLst>
          </p:cNvPr>
          <p:cNvGraphicFramePr>
            <a:graphicFrameLocks noGrp="1"/>
          </p:cNvGraphicFramePr>
          <p:nvPr>
            <p:extLst>
              <p:ext uri="{D42A27DB-BD31-4B8C-83A1-F6EECF244321}">
                <p14:modId xmlns:p14="http://schemas.microsoft.com/office/powerpoint/2010/main" val="1923607110"/>
              </p:ext>
            </p:extLst>
          </p:nvPr>
        </p:nvGraphicFramePr>
        <p:xfrm>
          <a:off x="978243" y="720810"/>
          <a:ext cx="10230228" cy="5577840"/>
        </p:xfrm>
        <a:graphic>
          <a:graphicData uri="http://schemas.openxmlformats.org/drawingml/2006/table">
            <a:tbl>
              <a:tblPr firstRow="1" bandRow="1">
                <a:tableStyleId>{073A0DAA-6AF3-43AB-8588-CEC1D06C72B9}</a:tableStyleId>
              </a:tblPr>
              <a:tblGrid>
                <a:gridCol w="2557557">
                  <a:extLst>
                    <a:ext uri="{9D8B030D-6E8A-4147-A177-3AD203B41FA5}">
                      <a16:colId xmlns:a16="http://schemas.microsoft.com/office/drawing/2014/main" val="2889558270"/>
                    </a:ext>
                  </a:extLst>
                </a:gridCol>
                <a:gridCol w="2557557">
                  <a:extLst>
                    <a:ext uri="{9D8B030D-6E8A-4147-A177-3AD203B41FA5}">
                      <a16:colId xmlns:a16="http://schemas.microsoft.com/office/drawing/2014/main" val="1777847828"/>
                    </a:ext>
                  </a:extLst>
                </a:gridCol>
                <a:gridCol w="2557557">
                  <a:extLst>
                    <a:ext uri="{9D8B030D-6E8A-4147-A177-3AD203B41FA5}">
                      <a16:colId xmlns:a16="http://schemas.microsoft.com/office/drawing/2014/main" val="4274948887"/>
                    </a:ext>
                  </a:extLst>
                </a:gridCol>
                <a:gridCol w="2557557">
                  <a:extLst>
                    <a:ext uri="{9D8B030D-6E8A-4147-A177-3AD203B41FA5}">
                      <a16:colId xmlns:a16="http://schemas.microsoft.com/office/drawing/2014/main" val="2217576796"/>
                    </a:ext>
                  </a:extLst>
                </a:gridCol>
              </a:tblGrid>
              <a:tr h="731520">
                <a:tc>
                  <a:txBody>
                    <a:bodyPr/>
                    <a:lstStyle/>
                    <a:p>
                      <a:r>
                        <a:rPr lang="en-US" sz="2000">
                          <a:latin typeface="Times New Roman"/>
                          <a:ea typeface="Calibri"/>
                          <a:cs typeface="Times New Roman"/>
                        </a:rPr>
                        <a:t>COLUMNS</a:t>
                      </a:r>
                    </a:p>
                  </a:txBody>
                  <a:tcPr/>
                </a:tc>
                <a:tc>
                  <a:txBody>
                    <a:bodyPr/>
                    <a:lstStyle/>
                    <a:p>
                      <a:r>
                        <a:rPr lang="en-US"/>
                        <a:t>ISSUE(S) FOUND</a:t>
                      </a:r>
                    </a:p>
                  </a:txBody>
                  <a:tcPr/>
                </a:tc>
                <a:tc>
                  <a:txBody>
                    <a:bodyPr/>
                    <a:lstStyle/>
                    <a:p>
                      <a:r>
                        <a:rPr lang="en-US"/>
                        <a:t>CLEANING METHOD</a:t>
                      </a:r>
                    </a:p>
                  </a:txBody>
                  <a:tcPr/>
                </a:tc>
                <a:tc>
                  <a:txBody>
                    <a:bodyPr/>
                    <a:lstStyle/>
                    <a:p>
                      <a:r>
                        <a:rPr lang="en-US"/>
                        <a:t>RESULTS</a:t>
                      </a:r>
                    </a:p>
                  </a:txBody>
                  <a:tcPr/>
                </a:tc>
                <a:extLst>
                  <a:ext uri="{0D108BD9-81ED-4DB2-BD59-A6C34878D82A}">
                    <a16:rowId xmlns:a16="http://schemas.microsoft.com/office/drawing/2014/main" val="2874147216"/>
                  </a:ext>
                </a:extLst>
              </a:tr>
              <a:tr h="731520">
                <a:tc>
                  <a:txBody>
                    <a:bodyPr/>
                    <a:lstStyle/>
                    <a:p>
                      <a:r>
                        <a:rPr lang="en-US" sz="1600">
                          <a:latin typeface="Times New Roman"/>
                          <a:cs typeface="Times New Roman"/>
                        </a:rPr>
                        <a:t>STREET</a:t>
                      </a:r>
                    </a:p>
                  </a:txBody>
                  <a:tcPr/>
                </a:tc>
                <a:tc>
                  <a:txBody>
                    <a:bodyPr/>
                    <a:lstStyle/>
                    <a:p>
                      <a:pPr lvl="0">
                        <a:buNone/>
                      </a:pPr>
                      <a:r>
                        <a:rPr lang="en-US" sz="1800" b="0" i="0" u="none" strike="noStrike" noProof="0">
                          <a:solidFill>
                            <a:srgbClr val="000000"/>
                          </a:solidFill>
                          <a:latin typeface="Aptos"/>
                        </a:rPr>
                        <a:t>Extra spaces,</a:t>
                      </a:r>
                      <a:endParaRPr lang="en-US"/>
                    </a:p>
                    <a:p>
                      <a:pPr lvl="0">
                        <a:buNone/>
                      </a:pPr>
                      <a:r>
                        <a:rPr lang="en-US" sz="1800" b="0" i="0" u="none" strike="noStrike" noProof="0">
                          <a:solidFill>
                            <a:srgbClr val="000000"/>
                          </a:solidFill>
                          <a:latin typeface="Aptos"/>
                        </a:rPr>
                        <a:t>mixed upper and lower case </a:t>
                      </a:r>
                      <a:endParaRPr lang="en-US"/>
                    </a:p>
                  </a:txBody>
                  <a:tcPr/>
                </a:tc>
                <a:tc>
                  <a:txBody>
                    <a:bodyPr/>
                    <a:lstStyle/>
                    <a:p>
                      <a:pPr lvl="0">
                        <a:buNone/>
                      </a:pPr>
                      <a:r>
                        <a:rPr lang="en-US" sz="1800" b="0" i="0" u="none" strike="noStrike" noProof="0">
                          <a:solidFill>
                            <a:srgbClr val="000000"/>
                          </a:solidFill>
                          <a:latin typeface="Aptos"/>
                        </a:rPr>
                        <a:t>TRIM function,</a:t>
                      </a:r>
                    </a:p>
                    <a:p>
                      <a:pPr lvl="0">
                        <a:buNone/>
                      </a:pPr>
                      <a:r>
                        <a:rPr lang="en-US" sz="1800" b="0" i="0" u="none" strike="noStrike" noProof="0">
                          <a:solidFill>
                            <a:srgbClr val="000000"/>
                          </a:solidFill>
                          <a:latin typeface="Aptos"/>
                        </a:rPr>
                        <a:t>UPPER function to standardize text format.</a:t>
                      </a:r>
                    </a:p>
                    <a:p>
                      <a:pPr lvl="0">
                        <a:buNone/>
                      </a:pPr>
                      <a:endParaRPr lang="en-US"/>
                    </a:p>
                  </a:txBody>
                  <a:tcPr/>
                </a:tc>
                <a:tc>
                  <a:txBody>
                    <a:bodyPr/>
                    <a:lstStyle/>
                    <a:p>
                      <a:pPr lvl="0">
                        <a:buNone/>
                      </a:pPr>
                      <a:r>
                        <a:rPr lang="en-US" sz="1800" b="0" i="0" u="none" strike="noStrike" noProof="0">
                          <a:solidFill>
                            <a:srgbClr val="000000"/>
                          </a:solidFill>
                          <a:latin typeface="Aptos"/>
                        </a:rPr>
                        <a:t>Clean text formatting,</a:t>
                      </a:r>
                    </a:p>
                    <a:p>
                      <a:pPr lvl="0">
                        <a:buNone/>
                      </a:pPr>
                      <a:r>
                        <a:rPr lang="en-US" sz="1800" b="0" i="0" u="none" strike="noStrike" noProof="0">
                          <a:solidFill>
                            <a:srgbClr val="000000"/>
                          </a:solidFill>
                          <a:latin typeface="Aptos"/>
                        </a:rPr>
                        <a:t>Consistent and properly formatted.</a:t>
                      </a:r>
                    </a:p>
                    <a:p>
                      <a:pPr lvl="0">
                        <a:buNone/>
                      </a:pPr>
                      <a:endParaRPr lang="en-US"/>
                    </a:p>
                  </a:txBody>
                  <a:tcPr/>
                </a:tc>
                <a:extLst>
                  <a:ext uri="{0D108BD9-81ED-4DB2-BD59-A6C34878D82A}">
                    <a16:rowId xmlns:a16="http://schemas.microsoft.com/office/drawing/2014/main" val="3161586591"/>
                  </a:ext>
                </a:extLst>
              </a:tr>
              <a:tr h="731520">
                <a:tc>
                  <a:txBody>
                    <a:bodyPr/>
                    <a:lstStyle/>
                    <a:p>
                      <a:r>
                        <a:rPr lang="en-US"/>
                        <a:t>ZIPCODE</a:t>
                      </a:r>
                    </a:p>
                  </a:txBody>
                  <a:tcPr/>
                </a:tc>
                <a:tc>
                  <a:txBody>
                    <a:bodyPr/>
                    <a:lstStyle/>
                    <a:p>
                      <a:r>
                        <a:rPr lang="en-US"/>
                        <a:t>Blank cells</a:t>
                      </a:r>
                    </a:p>
                  </a:txBody>
                  <a:tcPr/>
                </a:tc>
                <a:tc>
                  <a:txBody>
                    <a:bodyPr/>
                    <a:lstStyle/>
                    <a:p>
                      <a:r>
                        <a:rPr lang="en-US"/>
                        <a:t>Filled in blank cells as "0" using filtering tool</a:t>
                      </a:r>
                    </a:p>
                  </a:txBody>
                  <a:tcPr/>
                </a:tc>
                <a:tc>
                  <a:txBody>
                    <a:bodyPr/>
                    <a:lstStyle/>
                    <a:p>
                      <a:r>
                        <a:rPr lang="en-US"/>
                        <a:t>Complete records</a:t>
                      </a:r>
                    </a:p>
                  </a:txBody>
                  <a:tcPr/>
                </a:tc>
                <a:extLst>
                  <a:ext uri="{0D108BD9-81ED-4DB2-BD59-A6C34878D82A}">
                    <a16:rowId xmlns:a16="http://schemas.microsoft.com/office/drawing/2014/main" val="1785299979"/>
                  </a:ext>
                </a:extLst>
              </a:tr>
              <a:tr h="731520">
                <a:tc>
                  <a:txBody>
                    <a:bodyPr/>
                    <a:lstStyle/>
                    <a:p>
                      <a:r>
                        <a:rPr lang="en-US"/>
                        <a:t>PHONE NUMBER</a:t>
                      </a:r>
                    </a:p>
                  </a:txBody>
                  <a:tcPr/>
                </a:tc>
                <a:tc>
                  <a:txBody>
                    <a:bodyPr/>
                    <a:lstStyle/>
                    <a:p>
                      <a:r>
                        <a:rPr lang="en-US"/>
                        <a:t>Blank cells</a:t>
                      </a:r>
                    </a:p>
                    <a:p>
                      <a:pPr lvl="0" algn="l">
                        <a:lnSpc>
                          <a:spcPct val="100000"/>
                        </a:lnSpc>
                        <a:spcBef>
                          <a:spcPts val="0"/>
                        </a:spcBef>
                        <a:spcAft>
                          <a:spcPts val="0"/>
                        </a:spcAft>
                        <a:buNone/>
                      </a:pPr>
                      <a:r>
                        <a:rPr lang="en-US" sz="1800" b="0" i="0" u="none" strike="noStrike" noProof="0">
                          <a:solidFill>
                            <a:srgbClr val="000000"/>
                          </a:solidFill>
                          <a:latin typeface="Times New Roman"/>
                          <a:cs typeface="Times New Roman"/>
                        </a:rPr>
                        <a:t>Irregular data patterns</a:t>
                      </a:r>
                    </a:p>
                    <a:p>
                      <a:pPr lvl="0">
                        <a:buNone/>
                      </a:pPr>
                      <a:endParaRPr lang="en-US"/>
                    </a:p>
                  </a:txBody>
                  <a:tcPr/>
                </a:tc>
                <a:tc>
                  <a:txBody>
                    <a:bodyPr/>
                    <a:lstStyle/>
                    <a:p>
                      <a:r>
                        <a:rPr lang="en-US"/>
                        <a:t>Filled blank cells as "0" using filtering tools,</a:t>
                      </a:r>
                    </a:p>
                    <a:p>
                      <a:pPr lvl="0">
                        <a:buNone/>
                      </a:pPr>
                      <a:r>
                        <a:rPr lang="en-US"/>
                        <a:t>"Select and replace" tool to remove irregular data patterns. </a:t>
                      </a:r>
                    </a:p>
                  </a:txBody>
                  <a:tcPr/>
                </a:tc>
                <a:tc>
                  <a:txBody>
                    <a:bodyPr/>
                    <a:lstStyle/>
                    <a:p>
                      <a:r>
                        <a:rPr lang="en-US"/>
                        <a:t>Complete records,</a:t>
                      </a:r>
                    </a:p>
                    <a:p>
                      <a:pPr lvl="0">
                        <a:buNone/>
                      </a:pPr>
                      <a:r>
                        <a:rPr lang="en-US"/>
                        <a:t>Improved data consistency.</a:t>
                      </a:r>
                    </a:p>
                  </a:txBody>
                  <a:tcPr/>
                </a:tc>
                <a:extLst>
                  <a:ext uri="{0D108BD9-81ED-4DB2-BD59-A6C34878D82A}">
                    <a16:rowId xmlns:a16="http://schemas.microsoft.com/office/drawing/2014/main" val="1457286588"/>
                  </a:ext>
                </a:extLst>
              </a:tr>
              <a:tr h="731520">
                <a:tc>
                  <a:txBody>
                    <a:bodyPr/>
                    <a:lstStyle/>
                    <a:p>
                      <a:r>
                        <a:rPr lang="en-US">
                          <a:latin typeface="Times New Roman"/>
                          <a:cs typeface="Times New Roman"/>
                        </a:rPr>
                        <a:t>CUISINE DESCRIPTION</a:t>
                      </a:r>
                    </a:p>
                  </a:txBody>
                  <a:tcPr/>
                </a:tc>
                <a:tc>
                  <a:txBody>
                    <a:bodyPr/>
                    <a:lstStyle/>
                    <a:p>
                      <a:r>
                        <a:rPr lang="en-US"/>
                        <a:t>Blank cells</a:t>
                      </a:r>
                    </a:p>
                  </a:txBody>
                  <a:tcPr/>
                </a:tc>
                <a:tc>
                  <a:txBody>
                    <a:bodyPr/>
                    <a:lstStyle/>
                    <a:p>
                      <a:r>
                        <a:rPr lang="en-US"/>
                        <a:t>Filled blank cells and labelled as "any"</a:t>
                      </a:r>
                    </a:p>
                  </a:txBody>
                  <a:tcPr/>
                </a:tc>
                <a:tc>
                  <a:txBody>
                    <a:bodyPr/>
                    <a:lstStyle/>
                    <a:p>
                      <a:r>
                        <a:rPr lang="en-US"/>
                        <a:t>Complete records</a:t>
                      </a:r>
                    </a:p>
                  </a:txBody>
                  <a:tcPr/>
                </a:tc>
                <a:extLst>
                  <a:ext uri="{0D108BD9-81ED-4DB2-BD59-A6C34878D82A}">
                    <a16:rowId xmlns:a16="http://schemas.microsoft.com/office/drawing/2014/main" val="3866819983"/>
                  </a:ext>
                </a:extLst>
              </a:tr>
              <a:tr h="731520">
                <a:tc>
                  <a:txBody>
                    <a:bodyPr/>
                    <a:lstStyle/>
                    <a:p>
                      <a:r>
                        <a:rPr lang="en-US">
                          <a:latin typeface="Times New Roman"/>
                          <a:cs typeface="Times New Roman"/>
                        </a:rPr>
                        <a:t>INSPECTION DATE</a:t>
                      </a:r>
                    </a:p>
                  </a:txBody>
                  <a:tcPr/>
                </a:tc>
                <a:tc>
                  <a:txBody>
                    <a:bodyPr/>
                    <a:lstStyle/>
                    <a:p>
                      <a:r>
                        <a:rPr lang="en-US"/>
                        <a:t>none</a:t>
                      </a:r>
                    </a:p>
                  </a:txBody>
                  <a:tcPr/>
                </a:tc>
                <a:tc>
                  <a:txBody>
                    <a:bodyPr/>
                    <a:lstStyle/>
                    <a:p>
                      <a:r>
                        <a:rPr lang="en-US"/>
                        <a:t>none</a:t>
                      </a:r>
                    </a:p>
                  </a:txBody>
                  <a:tcPr/>
                </a:tc>
                <a:tc>
                  <a:txBody>
                    <a:bodyPr/>
                    <a:lstStyle/>
                    <a:p>
                      <a:r>
                        <a:rPr lang="en-US"/>
                        <a:t>Complete records</a:t>
                      </a:r>
                    </a:p>
                  </a:txBody>
                  <a:tcPr/>
                </a:tc>
                <a:extLst>
                  <a:ext uri="{0D108BD9-81ED-4DB2-BD59-A6C34878D82A}">
                    <a16:rowId xmlns:a16="http://schemas.microsoft.com/office/drawing/2014/main" val="2721949540"/>
                  </a:ext>
                </a:extLst>
              </a:tr>
            </a:tbl>
          </a:graphicData>
        </a:graphic>
      </p:graphicFrame>
    </p:spTree>
    <p:extLst>
      <p:ext uri="{BB962C8B-B14F-4D97-AF65-F5344CB8AC3E}">
        <p14:creationId xmlns:p14="http://schemas.microsoft.com/office/powerpoint/2010/main" val="4180517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F1DB288-429E-884A-291A-BB096339FCC2}"/>
              </a:ext>
            </a:extLst>
          </p:cNvPr>
          <p:cNvGraphicFramePr>
            <a:graphicFrameLocks noGrp="1"/>
          </p:cNvGraphicFramePr>
          <p:nvPr>
            <p:extLst>
              <p:ext uri="{D42A27DB-BD31-4B8C-83A1-F6EECF244321}">
                <p14:modId xmlns:p14="http://schemas.microsoft.com/office/powerpoint/2010/main" val="3416125025"/>
              </p:ext>
            </p:extLst>
          </p:nvPr>
        </p:nvGraphicFramePr>
        <p:xfrm>
          <a:off x="1132702" y="514864"/>
          <a:ext cx="9825728" cy="5730240"/>
        </p:xfrm>
        <a:graphic>
          <a:graphicData uri="http://schemas.openxmlformats.org/drawingml/2006/table">
            <a:tbl>
              <a:tblPr firstRow="1" bandRow="1">
                <a:tableStyleId>{073A0DAA-6AF3-43AB-8588-CEC1D06C72B9}</a:tableStyleId>
              </a:tblPr>
              <a:tblGrid>
                <a:gridCol w="2456432">
                  <a:extLst>
                    <a:ext uri="{9D8B030D-6E8A-4147-A177-3AD203B41FA5}">
                      <a16:colId xmlns:a16="http://schemas.microsoft.com/office/drawing/2014/main" val="2408138787"/>
                    </a:ext>
                  </a:extLst>
                </a:gridCol>
                <a:gridCol w="2456432">
                  <a:extLst>
                    <a:ext uri="{9D8B030D-6E8A-4147-A177-3AD203B41FA5}">
                      <a16:colId xmlns:a16="http://schemas.microsoft.com/office/drawing/2014/main" val="1683301816"/>
                    </a:ext>
                  </a:extLst>
                </a:gridCol>
                <a:gridCol w="2456432">
                  <a:extLst>
                    <a:ext uri="{9D8B030D-6E8A-4147-A177-3AD203B41FA5}">
                      <a16:colId xmlns:a16="http://schemas.microsoft.com/office/drawing/2014/main" val="2668010241"/>
                    </a:ext>
                  </a:extLst>
                </a:gridCol>
                <a:gridCol w="2456432">
                  <a:extLst>
                    <a:ext uri="{9D8B030D-6E8A-4147-A177-3AD203B41FA5}">
                      <a16:colId xmlns:a16="http://schemas.microsoft.com/office/drawing/2014/main" val="3372907801"/>
                    </a:ext>
                  </a:extLst>
                </a:gridCol>
              </a:tblGrid>
              <a:tr h="716280">
                <a:tc>
                  <a:txBody>
                    <a:bodyPr/>
                    <a:lstStyle/>
                    <a:p>
                      <a:r>
                        <a:rPr lang="en-US" sz="2000">
                          <a:latin typeface="Times New Roman"/>
                          <a:cs typeface="Times New Roman"/>
                        </a:rPr>
                        <a:t>COLUMNS</a:t>
                      </a:r>
                    </a:p>
                  </a:txBody>
                  <a:tcPr/>
                </a:tc>
                <a:tc>
                  <a:txBody>
                    <a:bodyPr/>
                    <a:lstStyle/>
                    <a:p>
                      <a:r>
                        <a:rPr lang="en-US"/>
                        <a:t>ISSUE(S) FOUND</a:t>
                      </a:r>
                    </a:p>
                  </a:txBody>
                  <a:tcPr/>
                </a:tc>
                <a:tc>
                  <a:txBody>
                    <a:bodyPr/>
                    <a:lstStyle/>
                    <a:p>
                      <a:r>
                        <a:rPr lang="en-US"/>
                        <a:t>CLEANING METHOD</a:t>
                      </a:r>
                    </a:p>
                  </a:txBody>
                  <a:tcPr/>
                </a:tc>
                <a:tc>
                  <a:txBody>
                    <a:bodyPr/>
                    <a:lstStyle/>
                    <a:p>
                      <a:r>
                        <a:rPr lang="en-US"/>
                        <a:t>RESULTS</a:t>
                      </a:r>
                    </a:p>
                  </a:txBody>
                  <a:tcPr/>
                </a:tc>
                <a:extLst>
                  <a:ext uri="{0D108BD9-81ED-4DB2-BD59-A6C34878D82A}">
                    <a16:rowId xmlns:a16="http://schemas.microsoft.com/office/drawing/2014/main" val="1863764239"/>
                  </a:ext>
                </a:extLst>
              </a:tr>
              <a:tr h="716280">
                <a:tc>
                  <a:txBody>
                    <a:bodyPr/>
                    <a:lstStyle/>
                    <a:p>
                      <a:r>
                        <a:rPr lang="en-US">
                          <a:latin typeface="Times New Roman"/>
                          <a:cs typeface="Times New Roman"/>
                        </a:rPr>
                        <a:t>ACTION</a:t>
                      </a:r>
                    </a:p>
                  </a:txBody>
                  <a:tcPr/>
                </a:tc>
                <a:tc>
                  <a:txBody>
                    <a:bodyPr/>
                    <a:lstStyle/>
                    <a:p>
                      <a:r>
                        <a:rPr lang="en-US"/>
                        <a:t>Blank cells</a:t>
                      </a:r>
                    </a:p>
                  </a:txBody>
                  <a:tcPr/>
                </a:tc>
                <a:tc>
                  <a:txBody>
                    <a:bodyPr/>
                    <a:lstStyle/>
                    <a:p>
                      <a:r>
                        <a:rPr lang="en-US"/>
                        <a:t>Filled blanks as "Not yet inspected"</a:t>
                      </a:r>
                    </a:p>
                  </a:txBody>
                  <a:tcPr/>
                </a:tc>
                <a:tc>
                  <a:txBody>
                    <a:bodyPr/>
                    <a:lstStyle/>
                    <a:p>
                      <a:r>
                        <a:rPr lang="en-US"/>
                        <a:t>Complete records</a:t>
                      </a:r>
                    </a:p>
                  </a:txBody>
                  <a:tcPr/>
                </a:tc>
                <a:extLst>
                  <a:ext uri="{0D108BD9-81ED-4DB2-BD59-A6C34878D82A}">
                    <a16:rowId xmlns:a16="http://schemas.microsoft.com/office/drawing/2014/main" val="3006577797"/>
                  </a:ext>
                </a:extLst>
              </a:tr>
              <a:tr h="716280">
                <a:tc>
                  <a:txBody>
                    <a:bodyPr/>
                    <a:lstStyle/>
                    <a:p>
                      <a:r>
                        <a:rPr lang="en-US">
                          <a:latin typeface="Times New Roman"/>
                          <a:cs typeface="Times New Roman"/>
                        </a:rPr>
                        <a:t>VIOLATION CODE</a:t>
                      </a:r>
                    </a:p>
                  </a:txBody>
                  <a:tcPr/>
                </a:tc>
                <a:tc>
                  <a:txBody>
                    <a:bodyPr/>
                    <a:lstStyle/>
                    <a:p>
                      <a:r>
                        <a:rPr lang="en-US"/>
                        <a:t>Blank cells</a:t>
                      </a:r>
                    </a:p>
                  </a:txBody>
                  <a:tcPr/>
                </a:tc>
                <a:tc>
                  <a:txBody>
                    <a:bodyPr/>
                    <a:lstStyle/>
                    <a:p>
                      <a:r>
                        <a:rPr lang="en-US"/>
                        <a:t>Filled blank cells as "not available"</a:t>
                      </a:r>
                    </a:p>
                  </a:txBody>
                  <a:tcPr/>
                </a:tc>
                <a:tc>
                  <a:txBody>
                    <a:bodyPr/>
                    <a:lstStyle/>
                    <a:p>
                      <a:r>
                        <a:rPr lang="en-US"/>
                        <a:t>Complete records</a:t>
                      </a:r>
                    </a:p>
                  </a:txBody>
                  <a:tcPr/>
                </a:tc>
                <a:extLst>
                  <a:ext uri="{0D108BD9-81ED-4DB2-BD59-A6C34878D82A}">
                    <a16:rowId xmlns:a16="http://schemas.microsoft.com/office/drawing/2014/main" val="3630236776"/>
                  </a:ext>
                </a:extLst>
              </a:tr>
              <a:tr h="716280">
                <a:tc>
                  <a:txBody>
                    <a:bodyPr/>
                    <a:lstStyle/>
                    <a:p>
                      <a:r>
                        <a:rPr lang="en-US">
                          <a:latin typeface="Times New Roman"/>
                          <a:cs typeface="Times New Roman"/>
                        </a:rPr>
                        <a:t>VIOLATION DESCRIPTION</a:t>
                      </a:r>
                    </a:p>
                  </a:txBody>
                  <a:tcPr/>
                </a:tc>
                <a:tc>
                  <a:txBody>
                    <a:bodyPr/>
                    <a:lstStyle/>
                    <a:p>
                      <a:r>
                        <a:rPr lang="en-US"/>
                        <a:t>Blank cells</a:t>
                      </a:r>
                    </a:p>
                  </a:txBody>
                  <a:tcPr/>
                </a:tc>
                <a:tc>
                  <a:txBody>
                    <a:bodyPr/>
                    <a:lstStyle/>
                    <a:p>
                      <a:r>
                        <a:rPr lang="en-US"/>
                        <a:t>Filled blanks as "not available"</a:t>
                      </a:r>
                    </a:p>
                  </a:txBody>
                  <a:tcPr/>
                </a:tc>
                <a:tc>
                  <a:txBody>
                    <a:bodyPr/>
                    <a:lstStyle/>
                    <a:p>
                      <a:r>
                        <a:rPr lang="en-US"/>
                        <a:t>Complete records</a:t>
                      </a:r>
                    </a:p>
                  </a:txBody>
                  <a:tcPr/>
                </a:tc>
                <a:extLst>
                  <a:ext uri="{0D108BD9-81ED-4DB2-BD59-A6C34878D82A}">
                    <a16:rowId xmlns:a16="http://schemas.microsoft.com/office/drawing/2014/main" val="536540792"/>
                  </a:ext>
                </a:extLst>
              </a:tr>
              <a:tr h="716280">
                <a:tc>
                  <a:txBody>
                    <a:bodyPr/>
                    <a:lstStyle/>
                    <a:p>
                      <a:r>
                        <a:rPr lang="en-US">
                          <a:latin typeface="Times New Roman"/>
                          <a:cs typeface="Times New Roman"/>
                        </a:rPr>
                        <a:t>CRITICAL</a:t>
                      </a:r>
                    </a:p>
                  </a:txBody>
                  <a:tcPr/>
                </a:tc>
                <a:tc>
                  <a:txBody>
                    <a:bodyPr/>
                    <a:lstStyle/>
                    <a:p>
                      <a:r>
                        <a:rPr lang="en-US"/>
                        <a:t>none</a:t>
                      </a:r>
                    </a:p>
                  </a:txBody>
                  <a:tcPr/>
                </a:tc>
                <a:tc>
                  <a:txBody>
                    <a:bodyPr/>
                    <a:lstStyle/>
                    <a:p>
                      <a:r>
                        <a:rPr lang="en-US"/>
                        <a:t>none</a:t>
                      </a:r>
                    </a:p>
                  </a:txBody>
                  <a:tcPr/>
                </a:tc>
                <a:tc>
                  <a:txBody>
                    <a:bodyPr/>
                    <a:lstStyle/>
                    <a:p>
                      <a:r>
                        <a:rPr lang="en-US"/>
                        <a:t>Complete records</a:t>
                      </a:r>
                    </a:p>
                  </a:txBody>
                  <a:tcPr/>
                </a:tc>
                <a:extLst>
                  <a:ext uri="{0D108BD9-81ED-4DB2-BD59-A6C34878D82A}">
                    <a16:rowId xmlns:a16="http://schemas.microsoft.com/office/drawing/2014/main" val="4123581427"/>
                  </a:ext>
                </a:extLst>
              </a:tr>
              <a:tr h="716280">
                <a:tc>
                  <a:txBody>
                    <a:bodyPr/>
                    <a:lstStyle/>
                    <a:p>
                      <a:r>
                        <a:rPr lang="en-US">
                          <a:latin typeface="Times New Roman"/>
                          <a:cs typeface="Times New Roman"/>
                        </a:rPr>
                        <a:t>SCORE</a:t>
                      </a:r>
                    </a:p>
                  </a:txBody>
                  <a:tcPr/>
                </a:tc>
                <a:tc>
                  <a:txBody>
                    <a:bodyPr/>
                    <a:lstStyle/>
                    <a:p>
                      <a:r>
                        <a:rPr lang="en-US"/>
                        <a:t>Blank cells</a:t>
                      </a:r>
                    </a:p>
                  </a:txBody>
                  <a:tcPr/>
                </a:tc>
                <a:tc>
                  <a:txBody>
                    <a:bodyPr/>
                    <a:lstStyle/>
                    <a:p>
                      <a:r>
                        <a:rPr lang="en-US"/>
                        <a:t>Filled blanks as "00"</a:t>
                      </a:r>
                    </a:p>
                  </a:txBody>
                  <a:tcPr/>
                </a:tc>
                <a:tc>
                  <a:txBody>
                    <a:bodyPr/>
                    <a:lstStyle/>
                    <a:p>
                      <a:r>
                        <a:rPr lang="en-US"/>
                        <a:t>Complete records</a:t>
                      </a:r>
                    </a:p>
                  </a:txBody>
                  <a:tcPr/>
                </a:tc>
                <a:extLst>
                  <a:ext uri="{0D108BD9-81ED-4DB2-BD59-A6C34878D82A}">
                    <a16:rowId xmlns:a16="http://schemas.microsoft.com/office/drawing/2014/main" val="451890061"/>
                  </a:ext>
                </a:extLst>
              </a:tr>
              <a:tr h="716280">
                <a:tc>
                  <a:txBody>
                    <a:bodyPr/>
                    <a:lstStyle/>
                    <a:p>
                      <a:pPr lvl="0">
                        <a:buNone/>
                      </a:pPr>
                      <a:r>
                        <a:rPr lang="en-US">
                          <a:latin typeface="Times New Roman"/>
                          <a:cs typeface="Times New Roman"/>
                        </a:rPr>
                        <a:t>GRADE</a:t>
                      </a:r>
                    </a:p>
                  </a:txBody>
                  <a:tcPr/>
                </a:tc>
                <a:tc>
                  <a:txBody>
                    <a:bodyPr/>
                    <a:lstStyle/>
                    <a:p>
                      <a:pPr lvl="0">
                        <a:buNone/>
                      </a:pPr>
                      <a:r>
                        <a:rPr lang="en-US"/>
                        <a:t>Blank cells</a:t>
                      </a:r>
                    </a:p>
                  </a:txBody>
                  <a:tcPr/>
                </a:tc>
                <a:tc>
                  <a:txBody>
                    <a:bodyPr/>
                    <a:lstStyle/>
                    <a:p>
                      <a:pPr lvl="0">
                        <a:buNone/>
                      </a:pPr>
                      <a:r>
                        <a:rPr lang="en-US"/>
                        <a:t>Filled blanks as "not available"</a:t>
                      </a:r>
                    </a:p>
                  </a:txBody>
                  <a:tcPr/>
                </a:tc>
                <a:tc>
                  <a:txBody>
                    <a:bodyPr/>
                    <a:lstStyle/>
                    <a:p>
                      <a:pPr lvl="0">
                        <a:buNone/>
                      </a:pPr>
                      <a:r>
                        <a:rPr lang="en-US"/>
                        <a:t>Complete records</a:t>
                      </a:r>
                    </a:p>
                  </a:txBody>
                  <a:tcPr/>
                </a:tc>
                <a:extLst>
                  <a:ext uri="{0D108BD9-81ED-4DB2-BD59-A6C34878D82A}">
                    <a16:rowId xmlns:a16="http://schemas.microsoft.com/office/drawing/2014/main" val="2684934598"/>
                  </a:ext>
                </a:extLst>
              </a:tr>
              <a:tr h="716280">
                <a:tc>
                  <a:txBody>
                    <a:bodyPr/>
                    <a:lstStyle/>
                    <a:p>
                      <a:pPr lvl="0">
                        <a:buNone/>
                      </a:pPr>
                      <a:r>
                        <a:rPr lang="en-US">
                          <a:latin typeface="Times New Roman"/>
                          <a:cs typeface="Times New Roman"/>
                        </a:rPr>
                        <a:t>GRADE DATE</a:t>
                      </a:r>
                    </a:p>
                  </a:txBody>
                  <a:tcPr/>
                </a:tc>
                <a:tc>
                  <a:txBody>
                    <a:bodyPr/>
                    <a:lstStyle/>
                    <a:p>
                      <a:pPr lvl="0">
                        <a:buNone/>
                      </a:pPr>
                      <a:r>
                        <a:rPr lang="en-US"/>
                        <a:t>Blank cells</a:t>
                      </a:r>
                    </a:p>
                  </a:txBody>
                  <a:tcPr/>
                </a:tc>
                <a:tc>
                  <a:txBody>
                    <a:bodyPr/>
                    <a:lstStyle/>
                    <a:p>
                      <a:pPr lvl="0">
                        <a:buNone/>
                      </a:pPr>
                      <a:r>
                        <a:rPr lang="en-US"/>
                        <a:t>Filled blanks as "not issued"</a:t>
                      </a:r>
                    </a:p>
                  </a:txBody>
                  <a:tcPr/>
                </a:tc>
                <a:tc>
                  <a:txBody>
                    <a:bodyPr/>
                    <a:lstStyle/>
                    <a:p>
                      <a:pPr lvl="0">
                        <a:buNone/>
                      </a:pPr>
                      <a:r>
                        <a:rPr lang="en-US"/>
                        <a:t>Complete records</a:t>
                      </a:r>
                    </a:p>
                  </a:txBody>
                  <a:tcPr/>
                </a:tc>
                <a:extLst>
                  <a:ext uri="{0D108BD9-81ED-4DB2-BD59-A6C34878D82A}">
                    <a16:rowId xmlns:a16="http://schemas.microsoft.com/office/drawing/2014/main" val="2955763424"/>
                  </a:ext>
                </a:extLst>
              </a:tr>
            </a:tbl>
          </a:graphicData>
        </a:graphic>
      </p:graphicFrame>
    </p:spTree>
    <p:extLst>
      <p:ext uri="{BB962C8B-B14F-4D97-AF65-F5344CB8AC3E}">
        <p14:creationId xmlns:p14="http://schemas.microsoft.com/office/powerpoint/2010/main" val="1647157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6EE6CA0-9EF8-BD21-8E9B-4081A4A93FE8}"/>
              </a:ext>
            </a:extLst>
          </p:cNvPr>
          <p:cNvGraphicFramePr>
            <a:graphicFrameLocks noGrp="1"/>
          </p:cNvGraphicFramePr>
          <p:nvPr>
            <p:extLst>
              <p:ext uri="{D42A27DB-BD31-4B8C-83A1-F6EECF244321}">
                <p14:modId xmlns:p14="http://schemas.microsoft.com/office/powerpoint/2010/main" val="688588257"/>
              </p:ext>
            </p:extLst>
          </p:nvPr>
        </p:nvGraphicFramePr>
        <p:xfrm>
          <a:off x="937054" y="720810"/>
          <a:ext cx="10256360" cy="5390112"/>
        </p:xfrm>
        <a:graphic>
          <a:graphicData uri="http://schemas.openxmlformats.org/drawingml/2006/table">
            <a:tbl>
              <a:tblPr firstRow="1" bandRow="1">
                <a:tableStyleId>{073A0DAA-6AF3-43AB-8588-CEC1D06C72B9}</a:tableStyleId>
              </a:tblPr>
              <a:tblGrid>
                <a:gridCol w="2564090">
                  <a:extLst>
                    <a:ext uri="{9D8B030D-6E8A-4147-A177-3AD203B41FA5}">
                      <a16:colId xmlns:a16="http://schemas.microsoft.com/office/drawing/2014/main" val="3266619180"/>
                    </a:ext>
                  </a:extLst>
                </a:gridCol>
                <a:gridCol w="2564090">
                  <a:extLst>
                    <a:ext uri="{9D8B030D-6E8A-4147-A177-3AD203B41FA5}">
                      <a16:colId xmlns:a16="http://schemas.microsoft.com/office/drawing/2014/main" val="490828953"/>
                    </a:ext>
                  </a:extLst>
                </a:gridCol>
                <a:gridCol w="2564090">
                  <a:extLst>
                    <a:ext uri="{9D8B030D-6E8A-4147-A177-3AD203B41FA5}">
                      <a16:colId xmlns:a16="http://schemas.microsoft.com/office/drawing/2014/main" val="1092042906"/>
                    </a:ext>
                  </a:extLst>
                </a:gridCol>
                <a:gridCol w="2564090">
                  <a:extLst>
                    <a:ext uri="{9D8B030D-6E8A-4147-A177-3AD203B41FA5}">
                      <a16:colId xmlns:a16="http://schemas.microsoft.com/office/drawing/2014/main" val="2318054627"/>
                    </a:ext>
                  </a:extLst>
                </a:gridCol>
              </a:tblGrid>
              <a:tr h="770016">
                <a:tc>
                  <a:txBody>
                    <a:bodyPr/>
                    <a:lstStyle/>
                    <a:p>
                      <a:r>
                        <a:rPr lang="en-US"/>
                        <a:t>COLUMNS</a:t>
                      </a:r>
                    </a:p>
                  </a:txBody>
                  <a:tcPr/>
                </a:tc>
                <a:tc>
                  <a:txBody>
                    <a:bodyPr/>
                    <a:lstStyle/>
                    <a:p>
                      <a:r>
                        <a:rPr lang="en-US"/>
                        <a:t>ISSUE(S)  FOUND</a:t>
                      </a:r>
                    </a:p>
                  </a:txBody>
                  <a:tcPr/>
                </a:tc>
                <a:tc>
                  <a:txBody>
                    <a:bodyPr/>
                    <a:lstStyle/>
                    <a:p>
                      <a:r>
                        <a:rPr lang="en-US"/>
                        <a:t>CLEANING METHOD</a:t>
                      </a:r>
                    </a:p>
                  </a:txBody>
                  <a:tcPr/>
                </a:tc>
                <a:tc>
                  <a:txBody>
                    <a:bodyPr/>
                    <a:lstStyle/>
                    <a:p>
                      <a:r>
                        <a:rPr lang="en-US"/>
                        <a:t>RESULTS</a:t>
                      </a:r>
                    </a:p>
                  </a:txBody>
                  <a:tcPr/>
                </a:tc>
                <a:extLst>
                  <a:ext uri="{0D108BD9-81ED-4DB2-BD59-A6C34878D82A}">
                    <a16:rowId xmlns:a16="http://schemas.microsoft.com/office/drawing/2014/main" val="510526486"/>
                  </a:ext>
                </a:extLst>
              </a:tr>
              <a:tr h="770016">
                <a:tc>
                  <a:txBody>
                    <a:bodyPr/>
                    <a:lstStyle/>
                    <a:p>
                      <a:r>
                        <a:rPr lang="en-US">
                          <a:latin typeface="Times New Roman"/>
                          <a:cs typeface="Times New Roman"/>
                        </a:rPr>
                        <a:t>RECORD DATE</a:t>
                      </a:r>
                    </a:p>
                  </a:txBody>
                  <a:tcPr/>
                </a:tc>
                <a:tc>
                  <a:txBody>
                    <a:bodyPr/>
                    <a:lstStyle/>
                    <a:p>
                      <a:r>
                        <a:rPr lang="en-US"/>
                        <a:t>none</a:t>
                      </a:r>
                    </a:p>
                  </a:txBody>
                  <a:tcPr/>
                </a:tc>
                <a:tc>
                  <a:txBody>
                    <a:bodyPr/>
                    <a:lstStyle/>
                    <a:p>
                      <a:r>
                        <a:rPr lang="en-US"/>
                        <a:t>none</a:t>
                      </a:r>
                    </a:p>
                  </a:txBody>
                  <a:tcPr/>
                </a:tc>
                <a:tc>
                  <a:txBody>
                    <a:bodyPr/>
                    <a:lstStyle/>
                    <a:p>
                      <a:r>
                        <a:rPr lang="en-US"/>
                        <a:t>Complete records</a:t>
                      </a:r>
                    </a:p>
                  </a:txBody>
                  <a:tcPr/>
                </a:tc>
                <a:extLst>
                  <a:ext uri="{0D108BD9-81ED-4DB2-BD59-A6C34878D82A}">
                    <a16:rowId xmlns:a16="http://schemas.microsoft.com/office/drawing/2014/main" val="1909611803"/>
                  </a:ext>
                </a:extLst>
              </a:tr>
              <a:tr h="770016">
                <a:tc>
                  <a:txBody>
                    <a:bodyPr/>
                    <a:lstStyle/>
                    <a:p>
                      <a:r>
                        <a:rPr lang="en-US">
                          <a:latin typeface="Times New Roman"/>
                          <a:cs typeface="Times New Roman"/>
                        </a:rPr>
                        <a:t>INSPECTION TYPE</a:t>
                      </a:r>
                    </a:p>
                  </a:txBody>
                  <a:tcPr/>
                </a:tc>
                <a:tc>
                  <a:txBody>
                    <a:bodyPr/>
                    <a:lstStyle/>
                    <a:p>
                      <a:r>
                        <a:rPr lang="en-US"/>
                        <a:t>Blank cells</a:t>
                      </a:r>
                    </a:p>
                  </a:txBody>
                  <a:tcPr/>
                </a:tc>
                <a:tc>
                  <a:txBody>
                    <a:bodyPr/>
                    <a:lstStyle/>
                    <a:p>
                      <a:r>
                        <a:rPr lang="en-US"/>
                        <a:t>Filled blanks as "not identified"</a:t>
                      </a:r>
                    </a:p>
                  </a:txBody>
                  <a:tcPr/>
                </a:tc>
                <a:tc>
                  <a:txBody>
                    <a:bodyPr/>
                    <a:lstStyle/>
                    <a:p>
                      <a:r>
                        <a:rPr lang="en-US"/>
                        <a:t>Complete records</a:t>
                      </a:r>
                    </a:p>
                  </a:txBody>
                  <a:tcPr/>
                </a:tc>
                <a:extLst>
                  <a:ext uri="{0D108BD9-81ED-4DB2-BD59-A6C34878D82A}">
                    <a16:rowId xmlns:a16="http://schemas.microsoft.com/office/drawing/2014/main" val="2879838539"/>
                  </a:ext>
                </a:extLst>
              </a:tr>
              <a:tr h="770016">
                <a:tc>
                  <a:txBody>
                    <a:bodyPr/>
                    <a:lstStyle/>
                    <a:p>
                      <a:r>
                        <a:rPr lang="en-US">
                          <a:latin typeface="Times New Roman"/>
                          <a:cs typeface="Times New Roman"/>
                        </a:rPr>
                        <a:t>LATITUDE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Blank cells</a:t>
                      </a:r>
                    </a:p>
                    <a:p>
                      <a:pPr lvl="0">
                        <a:buNone/>
                      </a:pPr>
                      <a:endParaRPr lang="en-US"/>
                    </a:p>
                  </a:txBody>
                  <a:tcPr/>
                </a:tc>
                <a:tc>
                  <a:txBody>
                    <a:bodyPr/>
                    <a:lstStyle/>
                    <a:p>
                      <a:pPr lvl="0">
                        <a:buNone/>
                      </a:pPr>
                      <a:r>
                        <a:rPr lang="en-US" sz="1800" b="0" i="0" u="none" strike="noStrike" noProof="0">
                          <a:solidFill>
                            <a:srgbClr val="000000"/>
                          </a:solidFill>
                          <a:latin typeface="Aptos"/>
                        </a:rPr>
                        <a:t>Filled blanks as "0"</a:t>
                      </a:r>
                      <a:endParaRPr lang="en-US"/>
                    </a:p>
                  </a:txBody>
                  <a:tcPr/>
                </a:tc>
                <a:tc>
                  <a:txBody>
                    <a:bodyPr/>
                    <a:lstStyle/>
                    <a:p>
                      <a:pPr lvl="0">
                        <a:buNone/>
                      </a:pPr>
                      <a:r>
                        <a:rPr lang="en-US" sz="1800" b="0" i="0" u="none" strike="noStrike" noProof="0">
                          <a:solidFill>
                            <a:srgbClr val="000000"/>
                          </a:solidFill>
                          <a:latin typeface="Aptos"/>
                        </a:rPr>
                        <a:t>Complete records</a:t>
                      </a:r>
                      <a:endParaRPr lang="en-US"/>
                    </a:p>
                  </a:txBody>
                  <a:tcPr/>
                </a:tc>
                <a:extLst>
                  <a:ext uri="{0D108BD9-81ED-4DB2-BD59-A6C34878D82A}">
                    <a16:rowId xmlns:a16="http://schemas.microsoft.com/office/drawing/2014/main" val="3925974310"/>
                  </a:ext>
                </a:extLst>
              </a:tr>
              <a:tr h="770016">
                <a:tc>
                  <a:txBody>
                    <a:bodyPr/>
                    <a:lstStyle/>
                    <a:p>
                      <a:r>
                        <a:rPr lang="en-US">
                          <a:latin typeface="Times New Roman"/>
                          <a:cs typeface="Times New Roman"/>
                        </a:rPr>
                        <a:t>LONGITUDE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Blank cells</a:t>
                      </a:r>
                    </a:p>
                    <a:p>
                      <a:pPr lvl="0">
                        <a:buNone/>
                      </a:pPr>
                      <a:endParaRPr lang="en-US"/>
                    </a:p>
                  </a:txBody>
                  <a:tcPr/>
                </a:tc>
                <a:tc>
                  <a:txBody>
                    <a:bodyPr/>
                    <a:lstStyle/>
                    <a:p>
                      <a:pPr lvl="0">
                        <a:buNone/>
                      </a:pPr>
                      <a:r>
                        <a:rPr lang="en-US" sz="1800" b="0" i="0" u="none" strike="noStrike" noProof="0">
                          <a:solidFill>
                            <a:srgbClr val="000000"/>
                          </a:solidFill>
                          <a:latin typeface="Aptos"/>
                        </a:rPr>
                        <a:t>Filled blanks as "0"</a:t>
                      </a:r>
                    </a:p>
                  </a:txBody>
                  <a:tcPr/>
                </a:tc>
                <a:tc>
                  <a:txBody>
                    <a:bodyPr/>
                    <a:lstStyle/>
                    <a:p>
                      <a:pPr lvl="0">
                        <a:buNone/>
                      </a:pPr>
                      <a:r>
                        <a:rPr lang="en-US" sz="1800" b="0" i="0" u="none" strike="noStrike" noProof="0">
                          <a:solidFill>
                            <a:srgbClr val="000000"/>
                          </a:solidFill>
                          <a:latin typeface="Aptos"/>
                        </a:rPr>
                        <a:t>Complete records</a:t>
                      </a:r>
                      <a:endParaRPr lang="en-US"/>
                    </a:p>
                  </a:txBody>
                  <a:tcPr/>
                </a:tc>
                <a:extLst>
                  <a:ext uri="{0D108BD9-81ED-4DB2-BD59-A6C34878D82A}">
                    <a16:rowId xmlns:a16="http://schemas.microsoft.com/office/drawing/2014/main" val="963437834"/>
                  </a:ext>
                </a:extLst>
              </a:tr>
              <a:tr h="770016">
                <a:tc>
                  <a:txBody>
                    <a:bodyPr/>
                    <a:lstStyle/>
                    <a:p>
                      <a:r>
                        <a:rPr lang="en-US">
                          <a:latin typeface="Times New Roman"/>
                          <a:cs typeface="Times New Roman"/>
                        </a:rPr>
                        <a:t>COMMUNITY BOARD</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Blank cells</a:t>
                      </a:r>
                    </a:p>
                    <a:p>
                      <a:pPr lvl="0">
                        <a:buNone/>
                      </a:pPr>
                      <a:endParaRPr lang="en-US"/>
                    </a:p>
                  </a:txBody>
                  <a:tcPr/>
                </a:tc>
                <a:tc>
                  <a:txBody>
                    <a:bodyPr/>
                    <a:lstStyle/>
                    <a:p>
                      <a:pPr lvl="0">
                        <a:buNone/>
                      </a:pPr>
                      <a:r>
                        <a:rPr lang="en-US" sz="1800" b="0" i="0" u="none" strike="noStrike" noProof="0">
                          <a:solidFill>
                            <a:srgbClr val="000000"/>
                          </a:solidFill>
                          <a:latin typeface="Aptos"/>
                        </a:rPr>
                        <a:t>Filled blanks as "0"</a:t>
                      </a:r>
                      <a:endParaRPr lang="en-US"/>
                    </a:p>
                  </a:txBody>
                  <a:tcPr/>
                </a:tc>
                <a:tc>
                  <a:txBody>
                    <a:bodyPr/>
                    <a:lstStyle/>
                    <a:p>
                      <a:pPr lvl="0">
                        <a:buNone/>
                      </a:pPr>
                      <a:r>
                        <a:rPr lang="en-US" sz="1800" b="0" i="0" u="none" strike="noStrike" noProof="0">
                          <a:solidFill>
                            <a:srgbClr val="000000"/>
                          </a:solidFill>
                          <a:latin typeface="Aptos"/>
                        </a:rPr>
                        <a:t>Complete records</a:t>
                      </a:r>
                      <a:endParaRPr lang="en-US"/>
                    </a:p>
                  </a:txBody>
                  <a:tcPr/>
                </a:tc>
                <a:extLst>
                  <a:ext uri="{0D108BD9-81ED-4DB2-BD59-A6C34878D82A}">
                    <a16:rowId xmlns:a16="http://schemas.microsoft.com/office/drawing/2014/main" val="1314438505"/>
                  </a:ext>
                </a:extLst>
              </a:tr>
              <a:tr h="770016">
                <a:tc>
                  <a:txBody>
                    <a:bodyPr/>
                    <a:lstStyle/>
                    <a:p>
                      <a:r>
                        <a:rPr lang="en-US">
                          <a:latin typeface="Times New Roman"/>
                          <a:cs typeface="Times New Roman"/>
                        </a:rPr>
                        <a:t>COUNCIL DISTRICT</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Blank cells</a:t>
                      </a:r>
                    </a:p>
                    <a:p>
                      <a:pPr lvl="0">
                        <a:buNone/>
                      </a:pPr>
                      <a:endParaRPr lang="en-US"/>
                    </a:p>
                  </a:txBody>
                  <a:tcPr/>
                </a:tc>
                <a:tc>
                  <a:txBody>
                    <a:bodyPr/>
                    <a:lstStyle/>
                    <a:p>
                      <a:pPr lvl="0">
                        <a:buNone/>
                      </a:pPr>
                      <a:r>
                        <a:rPr lang="en-US" sz="1800" b="0" i="0" u="none" strike="noStrike" noProof="0">
                          <a:solidFill>
                            <a:srgbClr val="000000"/>
                          </a:solidFill>
                          <a:latin typeface="Aptos"/>
                        </a:rPr>
                        <a:t>Filled blanks as "0"</a:t>
                      </a:r>
                      <a:endParaRPr lang="en-US"/>
                    </a:p>
                  </a:txBody>
                  <a:tcPr/>
                </a:tc>
                <a:tc>
                  <a:txBody>
                    <a:bodyPr/>
                    <a:lstStyle/>
                    <a:p>
                      <a:pPr lvl="0">
                        <a:buNone/>
                      </a:pPr>
                      <a:r>
                        <a:rPr lang="en-US" sz="1800" b="0" i="0" u="none" strike="noStrike" noProof="0">
                          <a:solidFill>
                            <a:srgbClr val="000000"/>
                          </a:solidFill>
                          <a:latin typeface="Aptos"/>
                        </a:rPr>
                        <a:t>Complete records</a:t>
                      </a:r>
                      <a:endParaRPr lang="en-US"/>
                    </a:p>
                  </a:txBody>
                  <a:tcPr/>
                </a:tc>
                <a:extLst>
                  <a:ext uri="{0D108BD9-81ED-4DB2-BD59-A6C34878D82A}">
                    <a16:rowId xmlns:a16="http://schemas.microsoft.com/office/drawing/2014/main" val="2365765147"/>
                  </a:ext>
                </a:extLst>
              </a:tr>
            </a:tbl>
          </a:graphicData>
        </a:graphic>
      </p:graphicFrame>
    </p:spTree>
    <p:extLst>
      <p:ext uri="{BB962C8B-B14F-4D97-AF65-F5344CB8AC3E}">
        <p14:creationId xmlns:p14="http://schemas.microsoft.com/office/powerpoint/2010/main" val="1480521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1A646D6-71A8-F9CF-8D69-5DD98DE63A84}"/>
              </a:ext>
            </a:extLst>
          </p:cNvPr>
          <p:cNvGraphicFramePr>
            <a:graphicFrameLocks noGrp="1"/>
          </p:cNvGraphicFramePr>
          <p:nvPr>
            <p:extLst>
              <p:ext uri="{D42A27DB-BD31-4B8C-83A1-F6EECF244321}">
                <p14:modId xmlns:p14="http://schemas.microsoft.com/office/powerpoint/2010/main" val="3779066005"/>
              </p:ext>
            </p:extLst>
          </p:nvPr>
        </p:nvGraphicFramePr>
        <p:xfrm>
          <a:off x="978243" y="720810"/>
          <a:ext cx="9197340" cy="4537530"/>
        </p:xfrm>
        <a:graphic>
          <a:graphicData uri="http://schemas.openxmlformats.org/drawingml/2006/table">
            <a:tbl>
              <a:tblPr firstRow="1" bandRow="1">
                <a:tableStyleId>{073A0DAA-6AF3-43AB-8588-CEC1D06C72B9}</a:tableStyleId>
              </a:tblPr>
              <a:tblGrid>
                <a:gridCol w="2299335">
                  <a:extLst>
                    <a:ext uri="{9D8B030D-6E8A-4147-A177-3AD203B41FA5}">
                      <a16:colId xmlns:a16="http://schemas.microsoft.com/office/drawing/2014/main" val="1743597311"/>
                    </a:ext>
                  </a:extLst>
                </a:gridCol>
                <a:gridCol w="2299335">
                  <a:extLst>
                    <a:ext uri="{9D8B030D-6E8A-4147-A177-3AD203B41FA5}">
                      <a16:colId xmlns:a16="http://schemas.microsoft.com/office/drawing/2014/main" val="1927600661"/>
                    </a:ext>
                  </a:extLst>
                </a:gridCol>
                <a:gridCol w="2299335">
                  <a:extLst>
                    <a:ext uri="{9D8B030D-6E8A-4147-A177-3AD203B41FA5}">
                      <a16:colId xmlns:a16="http://schemas.microsoft.com/office/drawing/2014/main" val="2928611534"/>
                    </a:ext>
                  </a:extLst>
                </a:gridCol>
                <a:gridCol w="2299335">
                  <a:extLst>
                    <a:ext uri="{9D8B030D-6E8A-4147-A177-3AD203B41FA5}">
                      <a16:colId xmlns:a16="http://schemas.microsoft.com/office/drawing/2014/main" val="2591015609"/>
                    </a:ext>
                  </a:extLst>
                </a:gridCol>
              </a:tblGrid>
              <a:tr h="907506">
                <a:tc>
                  <a:txBody>
                    <a:bodyPr/>
                    <a:lstStyle/>
                    <a:p>
                      <a:r>
                        <a:rPr lang="en-US"/>
                        <a:t>COLUMNS</a:t>
                      </a:r>
                    </a:p>
                  </a:txBody>
                  <a:tcPr/>
                </a:tc>
                <a:tc>
                  <a:txBody>
                    <a:bodyPr/>
                    <a:lstStyle/>
                    <a:p>
                      <a:r>
                        <a:rPr lang="en-US"/>
                        <a:t>ISSUE(S) FOUND</a:t>
                      </a:r>
                    </a:p>
                  </a:txBody>
                  <a:tcPr/>
                </a:tc>
                <a:tc>
                  <a:txBody>
                    <a:bodyPr/>
                    <a:lstStyle/>
                    <a:p>
                      <a:r>
                        <a:rPr lang="en-US"/>
                        <a:t>CLEANING METHOD</a:t>
                      </a:r>
                    </a:p>
                  </a:txBody>
                  <a:tcPr/>
                </a:tc>
                <a:tc>
                  <a:txBody>
                    <a:bodyPr/>
                    <a:lstStyle/>
                    <a:p>
                      <a:r>
                        <a:rPr lang="en-US"/>
                        <a:t>RESULTS</a:t>
                      </a:r>
                    </a:p>
                  </a:txBody>
                  <a:tcPr/>
                </a:tc>
                <a:extLst>
                  <a:ext uri="{0D108BD9-81ED-4DB2-BD59-A6C34878D82A}">
                    <a16:rowId xmlns:a16="http://schemas.microsoft.com/office/drawing/2014/main" val="1687092557"/>
                  </a:ext>
                </a:extLst>
              </a:tr>
              <a:tr h="907506">
                <a:tc>
                  <a:txBody>
                    <a:bodyPr/>
                    <a:lstStyle/>
                    <a:p>
                      <a:r>
                        <a:rPr lang="en-US"/>
                        <a:t>CENSUS</a:t>
                      </a:r>
                    </a:p>
                  </a:txBody>
                  <a:tcPr/>
                </a:tc>
                <a:tc>
                  <a:txBody>
                    <a:bodyPr/>
                    <a:lstStyle/>
                    <a:p>
                      <a:r>
                        <a:rPr lang="en-US"/>
                        <a:t>Blank cells</a:t>
                      </a:r>
                    </a:p>
                  </a:txBody>
                  <a:tcPr/>
                </a:tc>
                <a:tc>
                  <a:txBody>
                    <a:bodyPr/>
                    <a:lstStyle/>
                    <a:p>
                      <a:pPr lvl="0">
                        <a:buNone/>
                      </a:pPr>
                      <a:r>
                        <a:rPr lang="en-US" sz="1800" b="0" i="0" u="none" strike="noStrike" noProof="0">
                          <a:solidFill>
                            <a:srgbClr val="000000"/>
                          </a:solidFill>
                          <a:latin typeface="Aptos"/>
                        </a:rPr>
                        <a:t>Filled blank cells as "0"</a:t>
                      </a:r>
                      <a:endParaRPr lang="en-US"/>
                    </a:p>
                  </a:txBody>
                  <a:tcPr/>
                </a:tc>
                <a:tc>
                  <a:txBody>
                    <a:bodyPr/>
                    <a:lstStyle/>
                    <a:p>
                      <a:r>
                        <a:rPr lang="en-US"/>
                        <a:t>Complete records</a:t>
                      </a:r>
                    </a:p>
                  </a:txBody>
                  <a:tcPr/>
                </a:tc>
                <a:extLst>
                  <a:ext uri="{0D108BD9-81ED-4DB2-BD59-A6C34878D82A}">
                    <a16:rowId xmlns:a16="http://schemas.microsoft.com/office/drawing/2014/main" val="1959585385"/>
                  </a:ext>
                </a:extLst>
              </a:tr>
              <a:tr h="907506">
                <a:tc>
                  <a:txBody>
                    <a:bodyPr/>
                    <a:lstStyle/>
                    <a:p>
                      <a:r>
                        <a:rPr lang="en-US"/>
                        <a:t>BIN</a:t>
                      </a:r>
                    </a:p>
                  </a:txBody>
                  <a:tcPr/>
                </a:tc>
                <a:tc>
                  <a:txBody>
                    <a:bodyPr/>
                    <a:lstStyle/>
                    <a:p>
                      <a:pPr lvl="0">
                        <a:buNone/>
                      </a:pPr>
                      <a:r>
                        <a:rPr lang="en-US" sz="1800" b="0" i="0" u="none" strike="noStrike" noProof="0">
                          <a:solidFill>
                            <a:srgbClr val="000000"/>
                          </a:solidFill>
                          <a:latin typeface="Aptos"/>
                        </a:rPr>
                        <a:t>Blank cells</a:t>
                      </a:r>
                      <a:endParaRPr lang="en-US"/>
                    </a:p>
                  </a:txBody>
                  <a:tcPr/>
                </a:tc>
                <a:tc>
                  <a:txBody>
                    <a:bodyPr/>
                    <a:lstStyle/>
                    <a:p>
                      <a:pPr lvl="0">
                        <a:buNone/>
                      </a:pPr>
                      <a:r>
                        <a:rPr lang="en-US" sz="1800" b="0" i="0" u="none" strike="noStrike" noProof="0">
                          <a:solidFill>
                            <a:srgbClr val="000000"/>
                          </a:solidFill>
                          <a:latin typeface="Aptos"/>
                        </a:rPr>
                        <a:t>Filled blank cells as "0"</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Complete records</a:t>
                      </a:r>
                    </a:p>
                    <a:p>
                      <a:pPr lvl="0">
                        <a:buNone/>
                      </a:pPr>
                      <a:endParaRPr lang="en-US" dirty="0"/>
                    </a:p>
                  </a:txBody>
                  <a:tcPr/>
                </a:tc>
                <a:extLst>
                  <a:ext uri="{0D108BD9-81ED-4DB2-BD59-A6C34878D82A}">
                    <a16:rowId xmlns:a16="http://schemas.microsoft.com/office/drawing/2014/main" val="906069459"/>
                  </a:ext>
                </a:extLst>
              </a:tr>
              <a:tr h="907506">
                <a:tc>
                  <a:txBody>
                    <a:bodyPr/>
                    <a:lstStyle/>
                    <a:p>
                      <a:r>
                        <a:rPr lang="en-US"/>
                        <a:t>BBL</a:t>
                      </a:r>
                    </a:p>
                  </a:txBody>
                  <a:tcPr/>
                </a:tc>
                <a:tc>
                  <a:txBody>
                    <a:bodyPr/>
                    <a:lstStyle/>
                    <a:p>
                      <a:pPr lvl="0">
                        <a:buNone/>
                      </a:pPr>
                      <a:r>
                        <a:rPr lang="en-US" sz="1800" b="0" i="0" u="none" strike="noStrike" noProof="0">
                          <a:solidFill>
                            <a:srgbClr val="000000"/>
                          </a:solidFill>
                          <a:latin typeface="Aptos"/>
                        </a:rPr>
                        <a:t>Blank cells</a:t>
                      </a:r>
                      <a:endParaRPr lang="en-US"/>
                    </a:p>
                  </a:txBody>
                  <a:tcPr/>
                </a:tc>
                <a:tc>
                  <a:txBody>
                    <a:bodyPr/>
                    <a:lstStyle/>
                    <a:p>
                      <a:pPr lvl="0">
                        <a:buNone/>
                      </a:pPr>
                      <a:r>
                        <a:rPr lang="en-US" sz="1800" b="0" i="0" u="none" strike="noStrike" noProof="0">
                          <a:solidFill>
                            <a:srgbClr val="000000"/>
                          </a:solidFill>
                          <a:latin typeface="Aptos"/>
                        </a:rPr>
                        <a:t>Filled blank cells as 0"</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Complete records</a:t>
                      </a:r>
                    </a:p>
                    <a:p>
                      <a:pPr lvl="0">
                        <a:buNone/>
                      </a:pPr>
                      <a:endParaRPr lang="en-US" dirty="0"/>
                    </a:p>
                  </a:txBody>
                  <a:tcPr/>
                </a:tc>
                <a:extLst>
                  <a:ext uri="{0D108BD9-81ED-4DB2-BD59-A6C34878D82A}">
                    <a16:rowId xmlns:a16="http://schemas.microsoft.com/office/drawing/2014/main" val="3307409093"/>
                  </a:ext>
                </a:extLst>
              </a:tr>
              <a:tr h="907506">
                <a:tc>
                  <a:txBody>
                    <a:bodyPr/>
                    <a:lstStyle/>
                    <a:p>
                      <a:pPr lvl="0">
                        <a:buNone/>
                      </a:pPr>
                      <a:r>
                        <a:rPr lang="en-US"/>
                        <a:t>NTA</a:t>
                      </a:r>
                    </a:p>
                  </a:txBody>
                  <a:tcPr/>
                </a:tc>
                <a:tc>
                  <a:txBody>
                    <a:bodyPr/>
                    <a:lstStyle/>
                    <a:p>
                      <a:pPr lvl="0">
                        <a:buNone/>
                      </a:pPr>
                      <a:r>
                        <a:rPr lang="en-US" sz="1800" b="0" i="0" u="none" strike="noStrike" noProof="0">
                          <a:solidFill>
                            <a:srgbClr val="000000"/>
                          </a:solidFill>
                          <a:latin typeface="Aptos"/>
                        </a:rPr>
                        <a:t>Blank cells</a:t>
                      </a:r>
                      <a:endParaRPr lang="en-US"/>
                    </a:p>
                  </a:txBody>
                  <a:tcPr/>
                </a:tc>
                <a:tc>
                  <a:txBody>
                    <a:bodyPr/>
                    <a:lstStyle/>
                    <a:p>
                      <a:pPr lvl="0">
                        <a:buNone/>
                      </a:pPr>
                      <a:r>
                        <a:rPr lang="en-US"/>
                        <a:t>Filled blank cells as "unknown"</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Complete records</a:t>
                      </a:r>
                    </a:p>
                    <a:p>
                      <a:pPr lvl="0">
                        <a:buNone/>
                      </a:pPr>
                      <a:endParaRPr lang="en-US" dirty="0"/>
                    </a:p>
                  </a:txBody>
                  <a:tcPr/>
                </a:tc>
                <a:extLst>
                  <a:ext uri="{0D108BD9-81ED-4DB2-BD59-A6C34878D82A}">
                    <a16:rowId xmlns:a16="http://schemas.microsoft.com/office/drawing/2014/main" val="2483487443"/>
                  </a:ext>
                </a:extLst>
              </a:tr>
            </a:tbl>
          </a:graphicData>
        </a:graphic>
      </p:graphicFrame>
    </p:spTree>
    <p:extLst>
      <p:ext uri="{BB962C8B-B14F-4D97-AF65-F5344CB8AC3E}">
        <p14:creationId xmlns:p14="http://schemas.microsoft.com/office/powerpoint/2010/main" val="236603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624</Words>
  <Application>Microsoft Office PowerPoint</Application>
  <PresentationFormat>Widescreen</PresentationFormat>
  <Paragraphs>144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Times New Roman</vt:lpstr>
      <vt:lpstr>office theme</vt:lpstr>
      <vt:lpstr>DATA CLEANING PROCESS IN EXCEL</vt:lpstr>
      <vt:lpstr>INTRODUCTION</vt:lpstr>
      <vt:lpstr>DATA CLEANING PERFORMED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CLEANING PROCESS IN EXCEL</dc:title>
  <dc:creator/>
  <cp:lastModifiedBy>omotola291@gmail.com</cp:lastModifiedBy>
  <cp:revision>28</cp:revision>
  <dcterms:created xsi:type="dcterms:W3CDTF">2026-05-12T15:19:07Z</dcterms:created>
  <dcterms:modified xsi:type="dcterms:W3CDTF">2026-05-12T18:57:27Z</dcterms:modified>
</cp:coreProperties>
</file>